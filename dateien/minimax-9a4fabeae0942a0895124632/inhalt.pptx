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holzterrasse/-/blob/890671216057a5828a2e32c75b868ebdbfc39dea/_posts/2026-10-27-befestigung-holzterrassendielen-schrauben-clips-systeme.md" TargetMode="External"/><Relationship Id="rId3" Type="http://schemas.openxmlformats.org/officeDocument/2006/relationships/hyperlink" Target="https://holzundhaus.github.io/spreeholzterrasse/dateien/minimax-9a4fabeae0942a089512463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von Terrassendielen: Schrauben, Clips und unsichtbare Systeme im Vergleich · Erklärende Präsentation</a:t>
            </a:r>
          </a:p>
        </p:txBody>
      </p:sp>
      <p:sp>
        <p:nvSpPr>
          <p:cNvPr id="3" name="Content Placeholder 2"/>
          <p:cNvSpPr>
            <a:spLocks noGrp="1"/>
          </p:cNvSpPr>
          <p:nvPr>
            <p:ph idx="1"/>
          </p:nvPr>
        </p:nvSpPr>
        <p:spPr/>
        <p:txBody>
          <a:bodyPr/>
          <a:lstStyle/>
          <a:p>
            <a:r>
              <a:t>Überblick: Bei einer Holzterrasse entscheidet das Befestigungssystem über Optik, Montageablauf und spätere Wartbarkeit. Wichtig ist deshalb, Schrauben, Clips oder eine Kombination nicht isoliert auszuwählen, sondern gemeinsam mit Dielenprofil, Unterkonstruktion und erwarteter Holzfeuchte zu planen. Der folgende Leitfaden strukturiert diese Systementscheidung und zeigt, worauf bei Materialien, Abständen und Austauscharbeiten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Schrauben, Clips oder Hybrid: Varianten vergleichen</a:t>
            </a:r>
          </a:p>
        </p:txBody>
      </p:sp>
      <p:sp>
        <p:nvSpPr>
          <p:cNvPr id="3" name="Content Placeholder 2"/>
          <p:cNvSpPr>
            <a:spLocks noGrp="1"/>
          </p:cNvSpPr>
          <p:nvPr>
            <p:ph idx="1"/>
          </p:nvPr>
        </p:nvSpPr>
        <p:spPr/>
        <p:txBody>
          <a:bodyPr/>
          <a:lstStyle/>
          <a:p>
            <a:pPr>
              <a:defRPr sz="1800"/>
            </a:pPr>
            <a:r>
              <a:t>Bei einer sichtbaren Verschraubung wird jede Diele direkt mit der Unterkonstruktion verbunden. Das ergibt ein rustikales Erscheinungsbild und erleichtert den Austausch einzelner Dielen, weil benachbarte Bretter nicht gelöst werden müssen. Clip-Systeme werden seitlich oder auf der Dielenoberfläche angebracht und verdecken die Verbindung. Sie wirken ausgewogen, setzen jedoch geeignete Dielenprofile und abgestimmte Komponenten voraus. Bei einem Austausch können angrenzende Dielen betroffen sein. Hybridbefestigungen kombinieren beide Verfahren, etwa mit Clips am Rand und einer punktuellen Verschraubung. Das kann bei breiten Dielen oder besonderen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Schrauben, Clips oder Hybrid: Varianten vergleichen</a:t>
            </a:r>
          </a:p>
        </p:txBody>
      </p:sp>
      <p:sp>
        <p:nvSpPr>
          <p:cNvPr id="3" name="Content Placeholder 2"/>
          <p:cNvSpPr>
            <a:spLocks noGrp="1"/>
          </p:cNvSpPr>
          <p:nvPr>
            <p:ph idx="1"/>
          </p:nvPr>
        </p:nvSpPr>
        <p:spPr/>
        <p:txBody>
          <a:bodyPr/>
          <a:lstStyle/>
          <a:p>
            <a:pPr>
              <a:defRPr sz="1800"/>
            </a:pPr>
            <a:r>
              <a:t> Materialkombinationen sinnvoll sein, erhöht aber die Planungsanforderungen.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Materialien und Unterkonstruktion gemeinsam betrachten</a:t>
            </a:r>
          </a:p>
        </p:txBody>
      </p:sp>
      <p:sp>
        <p:nvSpPr>
          <p:cNvPr id="3" name="Content Placeholder 2"/>
          <p:cNvSpPr>
            <a:spLocks noGrp="1"/>
          </p:cNvSpPr>
          <p:nvPr>
            <p:ph idx="1"/>
          </p:nvPr>
        </p:nvSpPr>
        <p:spPr/>
        <p:txBody>
          <a:bodyPr/>
          <a:lstStyle/>
          <a:p>
            <a:pPr>
              <a:defRPr sz="1800"/>
            </a:pPr>
            <a:r>
              <a:t>Ein Befestigungssystem passt nicht automatisch zu jedem Unterkonstruktionsmaterial. Aluminium-Profile können andere Befestigungspunkte und Abstände aufweisen als Holzprofile. Ebenso wichtig ist das Dielenprofil: Eine vorhandene Nut bedeutet nicht, dass beliebige Clips verwendet werden können. Vor der Bestellung sollten Herstellerangaben und freigegebene Kombinationen vorliegen. So lassen sich unpassende Clips, ungeeignete Schrauben oder spätere Montageprobleme vermeiden. Wer die Zusammenhänge zwischen Aufbau und Befestigung vertiefen möchte, findet im Ratgeber zur Holzterrassen-Unterkonstruktion weitere Planungshinweise.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Holzfeuchte, Fugen und Vorbohrung berücksichtigen</a:t>
            </a:r>
          </a:p>
        </p:txBody>
      </p:sp>
      <p:sp>
        <p:nvSpPr>
          <p:cNvPr id="3" name="Content Placeholder 2"/>
          <p:cNvSpPr>
            <a:spLocks noGrp="1"/>
          </p:cNvSpPr>
          <p:nvPr>
            <p:ph idx="1"/>
          </p:nvPr>
        </p:nvSpPr>
        <p:spPr/>
        <p:txBody>
          <a:bodyPr/>
          <a:lstStyle/>
          <a:p>
            <a:pPr>
              <a:defRPr sz="1800"/>
            </a:pPr>
            <a:r>
              <a:t>Holz verändert seine Abmessungen in Abhängigkeit von der Feuchte. Die bei der Montage gewählten Fugen müssen daher zur erwarteten Feuchteaufnahme des Materials passen. Zu eng gesetzte Dielen können sich bei Feuchteaufnahme verspannen und wiederum zu eng gesetzte Fugen können sich nicht ausreichend bewegen. Bei thermisch behandelten Hölzern oder bestimmten Holzarten kann eine Vorbohrung sinnvoll oder erforderlich sein, um Risse zu begrenzen. Das Bohrlochmaß sollte zum Zustand des Holzes passen. Diese Grundsätze gelten grundsätzlich für jedes Befestigungssystem und sollten bereits in der Materialplanung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Schraubenwahl und Korrosionsschutz</a:t>
            </a:r>
          </a:p>
        </p:txBody>
      </p:sp>
      <p:sp>
        <p:nvSpPr>
          <p:cNvPr id="3" name="Content Placeholder 2"/>
          <p:cNvSpPr>
            <a:spLocks noGrp="1"/>
          </p:cNvSpPr>
          <p:nvPr>
            <p:ph idx="1"/>
          </p:nvPr>
        </p:nvSpPr>
        <p:spPr/>
        <p:txBody>
          <a:bodyPr/>
          <a:lstStyle/>
          <a:p>
            <a:pPr>
              <a:defRPr sz="1800"/>
            </a:pPr>
            <a:r>
              <a:t>Bei einer direkten Verschraubung ist nicht nur der Schraubentyp, sondern auch seine Eignung für Holz und Einsatzort entscheidend. Im Terrassenbereich kommen üblicherweise korrosionsbeständige Edelstahlschrauben zum Einsatz. Für besonders beanspruchte Flächen oder Holzarten ist zu prüfen, welche Kopfform, Länge und Bohrung vom Hersteller für das jeweilige System empfohlen wird. Eine falsche Schraubenlänge kann die Verbindung unzureichend ausbilden oder unnötig tiefe Bohrungen erzeugen. Vor Beginn der Montage sollten deshalb Unterkonstruktion, Dielenstärke und Befestigungsmittel auf einem kleinen Muster geprüft werden. Das erleichtert die Beurt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Schraubenwahl und Korrosionsschutz</a:t>
            </a:r>
          </a:p>
        </p:txBody>
      </p:sp>
      <p:sp>
        <p:nvSpPr>
          <p:cNvPr id="3" name="Content Placeholder 2"/>
          <p:cNvSpPr>
            <a:spLocks noGrp="1"/>
          </p:cNvSpPr>
          <p:nvPr>
            <p:ph idx="1"/>
          </p:nvPr>
        </p:nvSpPr>
        <p:spPr/>
        <p:txBody>
          <a:bodyPr/>
          <a:lstStyle/>
          <a:p>
            <a:pPr>
              <a:defRPr sz="1800"/>
            </a:pPr>
            <a:r>
              <a:t>eilung von Optik und Funktion.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Auswahl treffen</a:t>
            </a:r>
          </a:p>
        </p:txBody>
      </p:sp>
      <p:sp>
        <p:nvSpPr>
          <p:cNvPr id="3" name="Content Placeholder 2"/>
          <p:cNvSpPr>
            <a:spLocks noGrp="1"/>
          </p:cNvSpPr>
          <p:nvPr>
            <p:ph idx="1"/>
          </p:nvPr>
        </p:nvSpPr>
        <p:spPr/>
        <p:txBody>
          <a:bodyPr/>
          <a:lstStyle/>
          <a:p>
            <a:pPr>
              <a:defRPr sz="1800"/>
            </a:pPr>
            <a:r>
              <a:t>Für Flächen mit häufigem Austauschbedarf spricht die sichtbare Verschraubung für, weil einzelne Dielen leichter zugänglich sind. Eine möglichst einheitliche Oberfläche ohne sichtbare Schrauben spricht für ein Clip-System. Hybridlösungen sind besonders interessant, wenn Dielengeometrie, Belastung und Materialkombination eine zusätzliche Abstimmung erfordern. Entscheidend ist weniger die Bezeichnung des Verfahrens als die Frage, ob alle Komponenten miteinander funktionieren. Eine Übersicht der Befestigungssysteme unterstützt beim strukturierten Vergleich. Vor der Bestellung sollten Dielenprofil, Unterkonstruktion, Holzfeuchte, Fugenabstand und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Auswahl treffen</a:t>
            </a:r>
          </a:p>
        </p:txBody>
      </p:sp>
      <p:sp>
        <p:nvSpPr>
          <p:cNvPr id="3" name="Content Placeholder 2"/>
          <p:cNvSpPr>
            <a:spLocks noGrp="1"/>
          </p:cNvSpPr>
          <p:nvPr>
            <p:ph idx="1"/>
          </p:nvPr>
        </p:nvSpPr>
        <p:spPr/>
        <p:txBody>
          <a:bodyPr/>
          <a:lstStyle/>
          <a:p>
            <a:pPr>
              <a:defRPr sz="1800"/>
            </a:pPr>
            <a:r>
              <a:t>Austauschkonzept schriftlich festgelegt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Befestigung von Terrassendielen: Schrauben, Clips und unsichtbare Systeme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