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holzterrasse/holzterrasse-schallschutz-trittschall-nachbarn/" TargetMode="External"/><Relationship Id="rId3" Type="http://schemas.openxmlformats.org/officeDocument/2006/relationships/hyperlink" Target="https://holzundhaus.github.io/spreeholzterrasse/dateien/minimax-11325504d93cb12ff62d6be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und Schallschutz: Trittschall und Geräuschübertragung für Nachbarn reduzieren · Erklärende Präsentation</a:t>
            </a:r>
          </a:p>
        </p:txBody>
      </p:sp>
      <p:sp>
        <p:nvSpPr>
          <p:cNvPr id="3" name="Content Placeholder 2"/>
          <p:cNvSpPr>
            <a:spLocks noGrp="1"/>
          </p:cNvSpPr>
          <p:nvPr>
            <p:ph idx="1"/>
          </p:nvPr>
        </p:nvSpPr>
        <p:spPr/>
        <p:txBody>
          <a:bodyPr/>
          <a:lstStyle/>
          <a:p>
            <a:r>
              <a:t>Überblick: Bei einer Holzterrasse in Berlin ist Schallschutz eine eigenständige Planungsfrage. Neben Optik, Holzart und Unterkonstruktion bestimmt die Bauweise, wie Trittschall, Stuhlrücken und weitere Geräusche bei direkten Nachbarn ankommen. Der folgende Leitfaden zeigt, welche Angaben und Maßnahmen für eine nachbarschaftsverträgliche Planung wichtig sind. Die Grundlagen des Schallschutzes bei Holzterrassen sowie die Bedeutung der Unterkonstruktion werden dabei besonders berücksichtigt.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Arten der Geräuschübertragung</a:t>
            </a:r>
          </a:p>
        </p:txBody>
      </p:sp>
      <p:sp>
        <p:nvSpPr>
          <p:cNvPr id="3" name="Content Placeholder 2"/>
          <p:cNvSpPr>
            <a:spLocks noGrp="1"/>
          </p:cNvSpPr>
          <p:nvPr>
            <p:ph idx="1"/>
          </p:nvPr>
        </p:nvSpPr>
        <p:spPr/>
        <p:txBody>
          <a:bodyPr/>
          <a:lstStyle/>
          <a:p>
            <a:pPr>
              <a:defRPr sz="1800"/>
            </a:pPr>
            <a:r>
              <a:t>Luftschall breitet sich über die Luft aus, etwa durch Stimmen, Musik oder fallende Gegenstände. Trittschall entsteht, wenn Schritte oder das Verschieben von Möbeln direkt in den Terrassenbelag eingeleitet werden. Körperschall wandert dagegen über die Unterkonstruktion in Wände, Sockel oder andere angrenzende Bauteile. Im Freien gibt es zwar keine festen Innenraum-Grenzwerte, dennoch kann die Übertragung durch die Gestaltung des Aufbaus deutlich reduziert werden. Entscheidend ist deshalb nicht nur das sichtbare Holz, sondern der vollständige Weg zwischen Nutzerfläche, Unterkonstruktion und Untergrund.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Situation vor Ort genau erfassen</a:t>
            </a:r>
          </a:p>
        </p:txBody>
      </p:sp>
      <p:sp>
        <p:nvSpPr>
          <p:cNvPr id="3" name="Content Placeholder 2"/>
          <p:cNvSpPr>
            <a:spLocks noGrp="1"/>
          </p:cNvSpPr>
          <p:nvPr>
            <p:ph idx="1"/>
          </p:nvPr>
        </p:nvSpPr>
        <p:spPr/>
        <p:txBody>
          <a:bodyPr/>
          <a:lstStyle/>
          <a:p>
            <a:pPr>
              <a:defRPr sz="1800"/>
            </a:pPr>
            <a:r>
              <a:t>Vor der Materialwahl sollte geklärt werden, wie nah die Terrasse an Fenstern, Balkonen oder Terrassenflächen der Nachbarn liegt. Ebenso wichtig sind gemeinsame Wände, durchgehende Sockel, getrennte Fundamente sowie die Lage auf Erdreich, Betonplatte, Dachfläche oder Balkon. Auch die geplante Nutzung beeinflusst das Ergebnis: Ein Durchgang erzeugt andere Geräusche als ein Essbereich mit häufigem Stuhlrücken. Diese Angaben gehören später zusammen mit Fläche, Untergrund und Aufbauhöhe in die Projektanfrage, damit Unterbau und Schallwirkung gemeinsam bewertet werden 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als zentraler Stellhebel</a:t>
            </a:r>
          </a:p>
        </p:txBody>
      </p:sp>
      <p:sp>
        <p:nvSpPr>
          <p:cNvPr id="3" name="Content Placeholder 2"/>
          <p:cNvSpPr>
            <a:spLocks noGrp="1"/>
          </p:cNvSpPr>
          <p:nvPr>
            <p:ph idx="1"/>
          </p:nvPr>
        </p:nvSpPr>
        <p:spPr/>
        <p:txBody>
          <a:bodyPr/>
          <a:lstStyle/>
          <a:p>
            <a:pPr>
              <a:defRPr sz="1800"/>
            </a:pPr>
            <a:r>
              <a:t>Die Unterkonstruktion verbindet Dielen und Untergrund und überträgt jede Schwingung. Eine fest mit einer Betonplatte verbundene Konstruktion leitet Trittschall direkt in den Baukörper weiter. Bei einer aufgestellten Unterkonstruktion tragen dagegen Stellfüße, Plattenlager oder Stelzlager die Lasten, ohne eine starre mechanische Verbindung zum Untergrund zu schaffen. Eine schwimmend aufgelegte Variante ohne Verschraubung kann ebenfalls den Übertragungsweg unterbrechen. Welche Lösung möglich ist, hängt unter anderem von Tragfähigkeit, Aufbauhöhe und der Höhe am Türanschluss ab. Weitere Hinweise bietet die Übersicht zur Unterkonstruktion bei Hol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als zentraler Stellhebel</a:t>
            </a:r>
          </a:p>
        </p:txBody>
      </p:sp>
      <p:sp>
        <p:nvSpPr>
          <p:cNvPr id="3" name="Content Placeholder 2"/>
          <p:cNvSpPr>
            <a:spLocks noGrp="1"/>
          </p:cNvSpPr>
          <p:nvPr>
            <p:ph idx="1"/>
          </p:nvPr>
        </p:nvSpPr>
        <p:spPr/>
        <p:txBody>
          <a:bodyPr/>
          <a:lstStyle/>
          <a:p>
            <a:pPr>
              <a:defRPr sz="1800"/>
            </a:pPr>
            <a:r>
              <a:t>zterrassen.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Trennschichten und feste Verbindungen</a:t>
            </a:r>
          </a:p>
        </p:txBody>
      </p:sp>
      <p:sp>
        <p:nvSpPr>
          <p:cNvPr id="3" name="Content Placeholder 2"/>
          <p:cNvSpPr>
            <a:spLocks noGrp="1"/>
          </p:cNvSpPr>
          <p:nvPr>
            <p:ph idx="1"/>
          </p:nvPr>
        </p:nvSpPr>
        <p:spPr/>
        <p:txBody>
          <a:bodyPr/>
          <a:lstStyle/>
          <a:p>
            <a:pPr>
              <a:defRPr sz="1800"/>
            </a:pPr>
            <a:r>
              <a:t>Zwischen Unterkonstruktion und Auflager sowie zwischen Diele und Unterkonstruktion können dämpfende Zwischenlagen die Schwingungsübertragung zusätzlich mindern. Genannt werden Gummi- oder Gummigranulat-Pads, Bautenschutzmatten und spezielle Pads für Terrassenlager. Entscheidend ist ihre dauerhafte Funktion: Sie dürfen beispielsweise durch Stauwasser oder Erdkontakt ihre Elastizität nicht verlieren. Welche Stärke und welches Produkt passen, lässt sich ohne Kenntnis von Belastung, Dielenformat, Untergrund und Abstand zum Nachbarbau nicht pauschal beurteilen. Auch Befestigungsmittel spielen eine Rolle. Lockere Schrauben oder ungeeignete Clips üb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Trennschichten und feste Verbindungen</a:t>
            </a:r>
          </a:p>
        </p:txBody>
      </p:sp>
      <p:sp>
        <p:nvSpPr>
          <p:cNvPr id="3" name="Content Placeholder 2"/>
          <p:cNvSpPr>
            <a:spLocks noGrp="1"/>
          </p:cNvSpPr>
          <p:nvPr>
            <p:ph idx="1"/>
          </p:nvPr>
        </p:nvSpPr>
        <p:spPr/>
        <p:txBody>
          <a:bodyPr/>
          <a:lstStyle/>
          <a:p>
            <a:pPr>
              <a:defRPr sz="1800"/>
            </a:pPr>
            <a:r>
              <a:t>ertragen Schwingungen stärker und sollten regelmäßig kontrolliert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Möbel, Nutzung und Abstimmung</a:t>
            </a:r>
          </a:p>
        </p:txBody>
      </p:sp>
      <p:sp>
        <p:nvSpPr>
          <p:cNvPr id="3" name="Content Placeholder 2"/>
          <p:cNvSpPr>
            <a:spLocks noGrp="1"/>
          </p:cNvSpPr>
          <p:nvPr>
            <p:ph idx="1"/>
          </p:nvPr>
        </p:nvSpPr>
        <p:spPr/>
        <p:txBody>
          <a:bodyPr/>
          <a:lstStyle/>
          <a:p>
            <a:pPr>
              <a:defRPr sz="1800"/>
            </a:pPr>
            <a:r>
              <a:t>Hartbodengleiter unter Stühlen und Tischen verringern das Klappern. Filzgleiter sind im Außenbereich nur eingeschränkt haltbar; Gummi- oder Teflongleiter sind meist robuster. Neben technischen Maßnahmen kann eine kurze Abstimmung mit der direkten Nachbarschaft typische Nutzungszeiten klären und spätere Konflikte vermeiden. Für eine belastbare Anfrage gehören daher der Abstand zu Fenstern, Balkonen oder Nachbarterrassen, die Untergrundart, die Aufbauhöhe, der Wunsch nach fixierter, gelagerter oder aufgestellter Unterkonstruktion sowie Angaben zu Möbeln und Gleitern dazu. So lässt sich einschätzen, welche Maßnahmen mit dem gewählten Aufbau real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Möbel, Nutzung und Abstimmung</a:t>
            </a:r>
          </a:p>
        </p:txBody>
      </p:sp>
      <p:sp>
        <p:nvSpPr>
          <p:cNvPr id="3" name="Content Placeholder 2"/>
          <p:cNvSpPr>
            <a:spLocks noGrp="1"/>
          </p:cNvSpPr>
          <p:nvPr>
            <p:ph idx="1"/>
          </p:nvPr>
        </p:nvSpPr>
        <p:spPr/>
        <p:txBody>
          <a:bodyPr/>
          <a:lstStyle/>
          <a:p>
            <a:pPr>
              <a:defRPr sz="1800"/>
            </a:pPr>
            <a:r>
              <a:t>istisch umsetzbar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und Schallschutz: Trittschall und Geräuschübertragung für Nachbarn reduzieren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