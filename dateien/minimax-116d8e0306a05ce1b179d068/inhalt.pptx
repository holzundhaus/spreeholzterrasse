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spreeholzterrasse.blogspot.com/2026/10/holzterrasse-sanieren-oder-austauschen.html" TargetMode="External"/><Relationship Id="rId3" Type="http://schemas.openxmlformats.org/officeDocument/2006/relationships/hyperlink" Target="https://holzundhaus.github.io/spreeholzterrasse/dateien/minimax-116d8e0306a05ce1b179d068/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Holzterrasse sanieren oder austauschen: Die richtige Entscheidung treffen · Erklärende Präsentation</a:t>
            </a:r>
          </a:p>
        </p:txBody>
      </p:sp>
      <p:sp>
        <p:nvSpPr>
          <p:cNvPr id="3" name="Content Placeholder 2"/>
          <p:cNvSpPr>
            <a:spLocks noGrp="1"/>
          </p:cNvSpPr>
          <p:nvPr>
            <p:ph idx="1"/>
          </p:nvPr>
        </p:nvSpPr>
        <p:spPr/>
        <p:txBody>
          <a:bodyPr/>
          <a:lstStyle/>
          <a:p>
            <a:r>
              <a:t>Überblick: Bevor eine Holzterrasse saniert oder vollständig ersetzt wird, entscheidet nicht der Zustand einzelner Dielen allein, sondern das Zusammenspiel aus Unterkonstruktion, Feuchtigkeit, Gefälle und Anschlüssen. Ein gezielter Befund verhindert, dass ein noch tragfähiger Aufbau unnötig erneuert wird. Er zeigt aber auch, welche Arbeiten bei einem Austausch von Anfang an eingeplant werden müssen. Die folgende Checkliste führt Schritt für Schritt von der Bestandsaufnahme zur belastbaren Entscheidung zwischen Sanierung und Komplettaustausch. Eine übersichtliche Einordnung bietet der Ratgeber [Holzterrasse sanieren oder austauschen](https://sp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Zuerst die tragenden Teile prüfen</a:t>
            </a:r>
          </a:p>
        </p:txBody>
      </p:sp>
      <p:sp>
        <p:nvSpPr>
          <p:cNvPr id="3" name="Content Placeholder 2"/>
          <p:cNvSpPr>
            <a:spLocks noGrp="1"/>
          </p:cNvSpPr>
          <p:nvPr>
            <p:ph idx="1"/>
          </p:nvPr>
        </p:nvSpPr>
        <p:spPr/>
        <p:txBody>
          <a:bodyPr/>
          <a:lstStyle/>
          <a:p>
            <a:pPr>
              <a:defRPr sz="1800"/>
            </a:pPr>
            <a:r>
              <a:t>Einzelne lockere, angegriffene oder verfärbte Dielen lassen sich nicht automatisch auf einen Defekt der gesamten Terrasse zurückführen. Entscheidend ist, ob die Unterkonstruktion intakt und trocken ist. Dafür sollten mehrere Balken an unterschiedlichen Stellen freigelegt und auf Festigkeit, Verformungen, weiche Stellen oder Anzeichen von Feuchtigkeitsschäden untersucht werden. Bleiben die Dielen tragfähig und sind nur einzelne Bereiche betroffen, kommt eine Sanierung grundsätzlich infrage. Wird die Konstruktion jedoch weich, bricht sie leicht oder riecht sie muffig, reicht ein Austausch der Dielen nicht mehr aus. Die Prüfung sollte deshalb vo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Zuerst die tragenden Teile prüfen</a:t>
            </a:r>
          </a:p>
        </p:txBody>
      </p:sp>
      <p:sp>
        <p:nvSpPr>
          <p:cNvPr id="3" name="Content Placeholder 2"/>
          <p:cNvSpPr>
            <a:spLocks noGrp="1"/>
          </p:cNvSpPr>
          <p:nvPr>
            <p:ph idx="1"/>
          </p:nvPr>
        </p:nvSpPr>
        <p:spPr/>
        <p:txBody>
          <a:bodyPr/>
          <a:lstStyle/>
          <a:p>
            <a:pPr>
              <a:defRPr sz="1800"/>
            </a:pPr>
            <a:r>
              <a:t>r der Auswahl neuer Materialien erfolgen.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Wasserablauf und Anschlüsse kontrollieren</a:t>
            </a:r>
          </a:p>
        </p:txBody>
      </p:sp>
      <p:sp>
        <p:nvSpPr>
          <p:cNvPr id="3" name="Content Placeholder 2"/>
          <p:cNvSpPr>
            <a:spLocks noGrp="1"/>
          </p:cNvSpPr>
          <p:nvPr>
            <p:ph idx="1"/>
          </p:nvPr>
        </p:nvSpPr>
        <p:spPr/>
        <p:txBody>
          <a:bodyPr/>
          <a:lstStyle/>
          <a:p>
            <a:pPr>
              <a:defRPr sz="1800"/>
            </a:pPr>
            <a:r>
              <a:t>Eine intakte Unterkonstruktion nützt wenig, wenn Wasser unter den Dielen stehen bleibt oder die Anschlüsse nicht mehr dicht sind. Zu prüfen sind das vorhandene Gefälle, der Ablauf des Regenwassers, Kontaktflächen sowie die Übergänge an Hauswand und Rand. Feuchtigkeit kann dort entstehen, wo Dielen über längere Zeit blockiert oder Wasserfalten nicht abgeführt werden. Bei einer Sanierung müssen die Anschlüsse und die Abdichtung an der Hauswand in den Leistungsumfang einfließen. Auch die verfügbare Aufbauhöhe ist relevant: Reicht der vorhandene Platz für den neuen Belag nicht aus, können Anpassungen an Türen, Rand und Übergängen erforderlich wer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Wasserablauf und Anschlüsse kontrollieren</a:t>
            </a:r>
          </a:p>
        </p:txBody>
      </p:sp>
      <p:sp>
        <p:nvSpPr>
          <p:cNvPr id="3" name="Content Placeholder 2"/>
          <p:cNvSpPr>
            <a:spLocks noGrp="1"/>
          </p:cNvSpPr>
          <p:nvPr>
            <p:ph idx="1"/>
          </p:nvPr>
        </p:nvSpPr>
        <p:spPr/>
        <p:txBody>
          <a:bodyPr/>
          <a:lstStyle/>
          <a:p>
            <a:pPr>
              <a:defRPr sz="1800"/>
            </a:pPr>
            <a:r>
              <a:t>den und den Aufwand deutlich erhöhen.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Sanierungsaufwand realistisch einschätzen</a:t>
            </a:r>
          </a:p>
        </p:txBody>
      </p:sp>
      <p:sp>
        <p:nvSpPr>
          <p:cNvPr id="3" name="Content Placeholder 2"/>
          <p:cNvSpPr>
            <a:spLocks noGrp="1"/>
          </p:cNvSpPr>
          <p:nvPr>
            <p:ph idx="1"/>
          </p:nvPr>
        </p:nvSpPr>
        <p:spPr/>
        <p:txBody>
          <a:bodyPr/>
          <a:lstStyle/>
          <a:p>
            <a:pPr>
              <a:defRPr sz="1800"/>
            </a:pPr>
            <a:r>
              <a:t>Für die Entscheidung hilft, den voraussichtlichen Anteil der zu erneuernden Unterkonstruktion zu bestimmen. Als Faustregel gilt: Wenn mehr als 30 bis 40 Prozent der Unterkonstruktion ersetzt werden müssen, ist ein vollständiger Austausch häufig wirtschaftlicher. Die Arbeitskosten für eine Teilinstandsetzung nähern sich dann denen eines Neubaus, während das Ergebnis weniger vorhersehbar bleibt. Diese Grenze ersetzt keine Prüfung vor Ort, bietet aber eine klare Orientierung. Für den Vergleich sollten zwei getrennte Angebote eingeholt werden: eines für die Sanierung und eines für den Komplettaustausch. So lassen sich identische Positionen besser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Sanierungsaufwand realistisch einschätzen</a:t>
            </a:r>
          </a:p>
        </p:txBody>
      </p:sp>
      <p:sp>
        <p:nvSpPr>
          <p:cNvPr id="3" name="Content Placeholder 2"/>
          <p:cNvSpPr>
            <a:spLocks noGrp="1"/>
          </p:cNvSpPr>
          <p:nvPr>
            <p:ph idx="1"/>
          </p:nvPr>
        </p:nvSpPr>
        <p:spPr/>
        <p:txBody>
          <a:bodyPr/>
          <a:lstStyle/>
          <a:p>
            <a:pPr>
              <a:defRPr sz="1800"/>
            </a:pPr>
            <a:r>
              <a:t> gegenüberstellen und unbeachtete Zusatzleistungen erkennen.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Kosten vergleichen und Angebote prüfen</a:t>
            </a:r>
          </a:p>
        </p:txBody>
      </p:sp>
      <p:sp>
        <p:nvSpPr>
          <p:cNvPr id="3" name="Content Placeholder 2"/>
          <p:cNvSpPr>
            <a:spLocks noGrp="1"/>
          </p:cNvSpPr>
          <p:nvPr>
            <p:ph idx="1"/>
          </p:nvPr>
        </p:nvSpPr>
        <p:spPr/>
        <p:txBody>
          <a:bodyPr/>
          <a:lstStyle/>
          <a:p>
            <a:pPr>
              <a:defRPr sz="1800"/>
            </a:pPr>
            <a:r>
              <a:t>Ein realistischer Vergleich umfasst mehr als Dielen und Arbeitszeit. Bei der Sanierung zählen Material, Austausch der betroffenen Dielen sowie die erforderlichen Anschlussarbeiten. Beim Komplettaustausch kommen Untergrundvorbereitung, Unterkonstruktion, Rückbau und Entsorgung hinzu. Auch Lieferkosten, Baustellenzugang, Abdichtung und Anpassungen der Aufbauhöhe gehören in die Kalkulation. Entscheidend ist, dass beide Angebote denselben Umfang beschreiben und erkennbar ausweisen, was jeweils enthalten ist. Weitere Orientierung zur Vorbereitung eines solchen Vergleichs bietet die Website [spreeholzterrasse.de](https://spreeholzterrasse.de). Absc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Kosten vergleichen und Angebote prüfen</a:t>
            </a:r>
          </a:p>
        </p:txBody>
      </p:sp>
      <p:sp>
        <p:nvSpPr>
          <p:cNvPr id="3" name="Content Placeholder 2"/>
          <p:cNvSpPr>
            <a:spLocks noGrp="1"/>
          </p:cNvSpPr>
          <p:nvPr>
            <p:ph idx="1"/>
          </p:nvPr>
        </p:nvSpPr>
        <p:spPr/>
        <p:txBody>
          <a:bodyPr/>
          <a:lstStyle/>
          <a:p>
            <a:pPr>
              <a:defRPr sz="1800"/>
            </a:pPr>
            <a:r>
              <a:t>hließend sollten alle offenen Punkte im Angebot geklärt werden, bevor eine Entscheidung fällt.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Holzterrasse sanieren oder austauschen: Die richtige Entscheidung treffen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